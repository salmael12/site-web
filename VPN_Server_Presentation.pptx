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Mise en place d'un serveur VPN sécurisé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70C0"/>
                </a:solidFill>
              </a:defRPr>
            </a:pPr>
            <a:r>
              <a:t>sous Windows Server 2019 et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Implémentation IPSec et SSL pour la connexion à distance des employés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📋 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1. Contexte du projet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2. Objectifs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3. Outils et technologies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4. Architecture réseau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5. Configuration Windows Server 2019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6. Configuration Linux (Ubuntu)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7. Sécurisation et authentification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8. Tests et validation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9. Analyse du trafic</a:t>
            </a:r>
          </a:p>
          <a:p>
            <a:pPr>
              <a:spcBef>
                <a:spcPts val="1200"/>
              </a:spcBef>
              <a:defRPr sz="2200">
                <a:solidFill>
                  <a:srgbClr val="333333"/>
                </a:solidFill>
              </a:defRPr>
            </a:pPr>
            <a:r>
              <a:t>10. Résultats et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🧠 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Évolution du télétravail et des connexions à distance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Nécessité de sécuriser les communications entreprise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Protection des données sensibles en transit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Accès sécurisé aux ressources internes depuis l'extérieur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0070C0"/>
                </a:solidFill>
              </a:defRPr>
            </a:pPr>
            <a:r>
              <a:t>🎯 Solution : VPN (Virtual Private Network)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Tunnel chiffré entre utilisateurs distants et réseau interne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Implémentation sur deux environnements 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Windows Server 2019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Linux (Ubuntu Server 22.04)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⚙️ 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1️⃣ Comprendre le fonctionnement d'un VPN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Protocoles IPSec et SSL/TLS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Tunneling et encapsulation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2️⃣ Installer et configurer un serveur VPN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Windows Server 2019 (RRAS)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Linux Ubuntu (OpenVPN / StrongSwan)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3️⃣ Sécuriser les échanges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Chiffrement fort (AES-256)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Authentification multi-facteurs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4️⃣ Tester la connexion distante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5️⃣ Comparer les performances entre environnements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🧩 Outils et technologies utilisés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🖥️ Virtualisation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VirtualBox / VMware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🪟 Windows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Windows Server 2019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PowerShell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RRAS (Routing and Remote Access)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🐧 Linux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Ubuntu Server 22.04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OpenVPN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StrongSwan (IPSec)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🔍 Analyse et tests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Wireshark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Ping / Traceroute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Telnet / Netcat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🔐 Sécurité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Certificats SSL/TLS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Clés IPSec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Authentification RADIUS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📊 Documentation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Rapport technique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Schémas réseau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Procédures de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🏗️ Architecture réseau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0070C0"/>
                </a:solidFill>
              </a:defRPr>
            </a:pPr>
            <a:r>
              <a:t>📍 Topologie réseau sur VirtualBox/VMware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1. Serveur Windows Server 2019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IP: 192.168.1.10/24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Rôle: Serveur VPN IPSec/L2TP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2. Serveur Linux Ubuntu 22.04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IP: 192.168.1.20/24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Rôle: Serveur OpenVPN/StrongSwan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3. Client distant (Windows/Linux)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IP: DHCP ou 192.168.1.100/24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Rôle: Client VPN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3366"/>
                </a:solidFill>
              </a:defRPr>
            </a:pPr>
            <a:r>
              <a:t>4. Réseau interne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Plage: 10.0.0.0/24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 • Ressources: Serveurs de fichiers,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🪟 Configuration Windows Server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2200" b="1">
                <a:solidFill>
                  <a:srgbClr val="0070C0"/>
                </a:solidFill>
              </a:defRPr>
            </a:pPr>
            <a:r>
              <a:t>📝 Étapes de configuration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003366"/>
                </a:solidFill>
              </a:defRPr>
            </a:pPr>
            <a:r>
              <a:t>1. Installation du rôle Remote Access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Server Manager → Add Roles → Remote Access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Sélectionner DirectAccess and VPN (RAS)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003366"/>
                </a:solidFill>
              </a:defRPr>
            </a:pPr>
            <a:r>
              <a:t>2. Configuration RRAS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Routing and Remote Access → Configure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Choisir 'Custom Configuration' → VPN Access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003366"/>
                </a:solidFill>
              </a:defRPr>
            </a:pPr>
            <a:r>
              <a:t>3. Configuration des protocoles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L2TP/IPSec avec clé pré-partagée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PPTP (optionnel, moins sécurisé)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IKEv2 (recommandé)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003366"/>
                </a:solidFill>
              </a:defRPr>
            </a:pPr>
            <a:r>
              <a:t>4. Configuration du pool d'adresses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   • Plage: 10.0.0.100 - 10.0.0.200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003366"/>
                </a:solidFill>
              </a:defRPr>
            </a:pPr>
            <a:r>
              <a:t>5. Création des comptes utilisateurs VPN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💻 Commandes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Installation du rôle Remote Access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Install-WindowsFeature RemoteAccess -IncludeManagementTools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Install-WindowsFeature DirectAccess-VPN -IncludeManagementTools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Install-WindowsFeature Routing -IncludeManagementTools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Configuration VPN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Install-RemoteAccess -VpnType Vpn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Configuration du pool d'adresses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Set-VpnIPAddressAssignment -IPAddressRangeStart 10.0.0.100 `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  -IPAddressRangeEnd 10.0.0.200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Création d'un utilisateur VPN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New-LocalUser -Name 'vpnuser' -Password (ConvertTo-SecureString `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  'P@ssw0rd!' -AsPlainText -Force)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Autoriser l'accès VPN</a:t>
            </a:r>
          </a:p>
          <a:p>
            <a:pPr>
              <a:spcBef>
                <a:spcPts val="300"/>
              </a:spcBef>
              <a:defRPr sz="1400">
                <a:solidFill>
                  <a:srgbClr val="000080"/>
                </a:solidFill>
                <a:latin typeface="Courier New"/>
              </a:defRPr>
            </a:pPr>
            <a:r>
              <a:t>Set-VpnUser -UserName 'vpnuser' -PassThru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🐧 Configuration Linux (Ubuntu)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2000" b="1">
                <a:solidFill>
                  <a:srgbClr val="0070C0"/>
                </a:solidFill>
              </a:defRPr>
            </a:pPr>
            <a:r>
              <a:t>📝 Option 1 : OpenVPN (SSL/TLS)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</a:defRPr>
            </a:pPr>
            <a:r>
              <a:t>1. Installation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sudo apt update &amp;&amp; sudo apt install openvpn easy-rsa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</a:defRPr>
            </a:pPr>
            <a:r>
              <a:t>2. Configuration PKI (Public Key Infrastructure)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Génération de l'autorité de certification (CA)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Création des certificats serveur et clients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</a:defRPr>
            </a:pPr>
            <a:r>
              <a:t>3. Configuration du serveur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Fichier: /etc/openvpn/server.conf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Port: 1194 (UDP)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Protocole: UDP/TCP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070C0"/>
                </a:solidFill>
              </a:defRPr>
            </a:pPr>
            <a:r>
              <a:t>📝 Option 2 : StrongSwan (IPSec)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</a:defRPr>
            </a:pPr>
            <a:r>
              <a:t>1. Installation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sudo apt install strongswan strongswan-pki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03366"/>
                </a:solidFill>
              </a:defRPr>
            </a:pPr>
            <a:r>
              <a:t>2. Configuration IPSec</a:t>
            </a:r>
          </a:p>
          <a:p>
            <a:pPr>
              <a:spcBef>
                <a:spcPts val="400"/>
              </a:spcBef>
              <a:defRPr sz="1600">
                <a:solidFill>
                  <a:srgbClr val="333333"/>
                </a:solidFill>
              </a:defRPr>
            </a:pPr>
            <a:r>
              <a:t>   • Fichier: /etc/ipsec.conf et /etc/ipsec.secrets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💻 Commandes OpenVPN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Installation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sudo apt update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sudo apt install openvpn easy-rsa -y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Configuration Easy-RSA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make-cadir ~/openvpn-ca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cd ~/openvpn-ca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./easyrsa init-pki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./easyrsa build-ca nopass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Génération certificat serveur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./easyrsa gen-req server nopass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./easyrsa sign-req server server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Génération clé Diffie-Hellman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./easyrsa gen-dh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Génération clé TLS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openvpn --genkey --secret ta.key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8000"/>
                </a:solidFill>
                <a:latin typeface="Courier New"/>
              </a:defRPr>
            </a:pPr>
            <a:r>
              <a:t># Démarrage du service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sudo systemctl start openvpn@server</a:t>
            </a:r>
          </a:p>
          <a:p>
            <a:pPr>
              <a:spcBef>
                <a:spcPts val="300"/>
              </a:spcBef>
              <a:defRPr sz="1300">
                <a:solidFill>
                  <a:srgbClr val="000080"/>
                </a:solidFill>
                <a:latin typeface="Courier New"/>
              </a:defRPr>
            </a:pPr>
            <a:r>
              <a:t>sudo systemctl enable openvpn@server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🔒 Sécurisation et authentification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🔐 Chiffrement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AES-256-CBC/GCM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SHA-256/SHA-512 (HMAC)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RSA 2048/4096 bits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Perfect Forward Secrecy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🔑 Authentification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Certificats X.509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Clés pré-partagées (PSK)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RADIUS/LDAP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Active Directory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Multi-facteurs (2FA)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🛡️ Bonnes pratiques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Désactiver les protocoles faibles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(PPTP, MD5)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Utiliser des mots de passe forts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Renouveler les certificats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régulièrement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Activer les logs d'audit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Configurer le pare-feu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Limiter les tentatives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de connexion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Mettre à jour régulièrement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✅ Tests 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2200" b="1">
                <a:solidFill>
                  <a:srgbClr val="0070C0"/>
                </a:solidFill>
              </a:defRPr>
            </a:pPr>
            <a:r>
              <a:t>🧪 Tests de connectivité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003366"/>
                </a:solidFill>
              </a:defRPr>
            </a:pPr>
            <a:r>
              <a:t>1. Connexion client VPN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Windows: Paramètres → Réseau → VPN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Linux: sudo openvpn --config client.ovpn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003366"/>
                </a:solidFill>
              </a:defRPr>
            </a:pPr>
            <a:r>
              <a:t>2. Vérification de l'adresse IP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ip addr show (Linux)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ipconfig /all (Windows)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003366"/>
                </a:solidFill>
              </a:defRPr>
            </a:pPr>
            <a:r>
              <a:t>3. Test de ping vers le réseau interne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ping 10.0.0.1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ping serveur-interne.local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003366"/>
                </a:solidFill>
              </a:defRPr>
            </a:pPr>
            <a:r>
              <a:t>4. Test d'accès aux ressources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Partages de fichiers (SMB/NFS)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Applications web internes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Bases de données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003366"/>
                </a:solidFill>
              </a:defRPr>
            </a:pPr>
            <a:r>
              <a:t>5. Test de débit et latence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iperf3 -c serveur-vpn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   • speedtest-cli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🔍 Analyse du trafic avec Wireshark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📊 Objectifs de l'analyse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Vérifier le chiffrement des données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Identifier les protocoles utilisés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Détecter d'éventuelles failles de sécurité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Mesurer les performances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🔎 Filtres Wireshark utiles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OpenVPN: udp.port == 1194 || tcp.port == 1194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IPSec: esp || isakmp || ipsec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L2TP: udp.port == 1701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IKEv2: udp.port == 500 || udp.port == 4500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✅ Points de vérification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Handshake TLS/SSL visible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Données applicatives chiffrées (non lisibles)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Absence de fuites DNS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Intégrité des paquets (HMAC)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⚖️ Comparaison Windows vs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003366"/>
                </a:solidFill>
              </a:defRPr>
            </a:pPr>
            <a:r>
              <a:t>🪟 Windows Server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70C0"/>
                </a:solidFill>
              </a:defRPr>
            </a:pPr>
            <a:r>
              <a:t>✅ Avantages: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Interface graphique intuitive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Intégration Active Directory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Support Microsoft officiel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Configuration simplifiée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70C0"/>
                </a:solidFill>
              </a:defRPr>
            </a:pPr>
            <a:r>
              <a:t>❌ Inconvénients: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Coût de licence élevé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Ressources système importantes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Moins flexible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Mises à jour fréquentes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003366"/>
                </a:solidFill>
              </a:defRPr>
            </a:pPr>
            <a:r>
              <a:t>🐧 Linux Ubuntu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70C0"/>
                </a:solidFill>
              </a:defRPr>
            </a:pPr>
            <a:r>
              <a:t>✅ Avantages: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Gratuit et open-source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Léger et performant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Très flexible et personnalisable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Communauté active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0070C0"/>
                </a:solidFill>
              </a:defRPr>
            </a:pPr>
            <a:r>
              <a:t>❌ Inconvénients: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Courbe d'apprentissage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Configuration en ligne de commande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Support communautaire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• Documentation dispersée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🎯 Résultats attendus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✅ Connexion distante sécurisée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Tunnel VPN opérationnel entre client et serveur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Authentification réussie des utilisateurs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Stabilité de la connexion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🔐 Chiffrement des données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Trafic entièrement chiffré (AES-256)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Vérification via Wireshark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Aucune fuite de données en clair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🌐 Accès aux ressources internes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Accès complet au réseau interne (10.0.0.0/24)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Partages de fichiers accessibles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Applications web internes fonctionnelles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📊 Performance acceptable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Latence &lt; 50ms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Débit &gt; 50 Mbps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   • Pas de perte de paquets significative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⚠️ Problèmes courants et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800" b="1">
                <a:solidFill>
                  <a:srgbClr val="DC143C"/>
                </a:solidFill>
              </a:defRPr>
            </a:pPr>
            <a:r>
              <a:t>❌ Problème: Connexion refusée</a:t>
            </a:r>
          </a:p>
          <a:p>
            <a:pPr>
              <a:spcBef>
                <a:spcPts val="500"/>
              </a:spcBef>
              <a:defRPr sz="1800" b="1">
                <a:solidFill>
                  <a:srgbClr val="228B22"/>
                </a:solidFill>
              </a:defRPr>
            </a:pPr>
            <a:r>
              <a:t>✅ Solution: Vérifier pare-feu et ports ouverts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Windows: netsh advfirewall firewall add rule...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Linux: sudo ufw allow 1194/udp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DC143C"/>
                </a:solidFill>
              </a:defRPr>
            </a:pPr>
            <a:r>
              <a:t>❌ Problème: Authentification échouée</a:t>
            </a:r>
          </a:p>
          <a:p>
            <a:pPr>
              <a:spcBef>
                <a:spcPts val="500"/>
              </a:spcBef>
              <a:defRPr sz="1800" b="1">
                <a:solidFill>
                  <a:srgbClr val="228B22"/>
                </a:solidFill>
              </a:defRPr>
            </a:pPr>
            <a:r>
              <a:t>✅ Solution: Vérifier certificats et identifiants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Dates de validité des certificats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Permissions des fichiers de clés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DC143C"/>
                </a:solidFill>
              </a:defRPr>
            </a:pPr>
            <a:r>
              <a:t>❌ Problème: Pas d'accès au réseau interne</a:t>
            </a:r>
          </a:p>
          <a:p>
            <a:pPr>
              <a:spcBef>
                <a:spcPts val="500"/>
              </a:spcBef>
              <a:defRPr sz="1800" b="1">
                <a:solidFill>
                  <a:srgbClr val="228B22"/>
                </a:solidFill>
              </a:defRPr>
            </a:pPr>
            <a:r>
              <a:t>✅ Solution: Configurer le routage et NAT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Windows: Enable-NetNatTranslation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Linux: iptables -t nat -A POSTROUTING...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1800" b="1">
                <a:solidFill>
                  <a:srgbClr val="DC143C"/>
                </a:solidFill>
              </a:defRPr>
            </a:pPr>
            <a:r>
              <a:t>❌ Problème: Performances dégradées</a:t>
            </a:r>
          </a:p>
          <a:p>
            <a:pPr>
              <a:spcBef>
                <a:spcPts val="500"/>
              </a:spcBef>
              <a:defRPr sz="1800" b="1">
                <a:solidFill>
                  <a:srgbClr val="228B22"/>
                </a:solidFill>
              </a:defRPr>
            </a:pPr>
            <a:r>
              <a:t>✅ Solution: Optimiser la configuration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Changer de protocole (UDP vs TCP)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Ajuster la MTU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   • Utiliser la compression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📚 Documentation et livrables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📄 Rapport technique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Introduction et contexte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Architecture détaillée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Procédures de configuration pas à pas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Captures d'écran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Résultats des tests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Analyse comparative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🗺️ Schémas réseau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Topologie complète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Flux de données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Plan d'adressage IP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📋 Guides d'utilisation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Guide administrateur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Guide utilisateur client VPN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Procédures de dépannage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💾 Fichiers de configuration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Scripts PowerShell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Fichiers OpenVPN (.ovpn)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Configurations StrongSwan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Améliorations futures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🔐 Sécurité avancée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Authentification multi-facteurs (MFA)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Intégration avec Azure AD / Google Workspace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Certificats avec renouvellement automatique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IDS/IPS pour détecter les intrusions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📊 Monitoring et supervision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Dashboard de monitoring (Grafana)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Alertes en temps réel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Logs centralisés (ELK Stack)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Métriques de performance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⚡ Haute disponibilité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Cluster de serveurs VPN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Load balancing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Failover automatique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070C0"/>
                </a:solidFill>
              </a:defRPr>
            </a:pPr>
            <a:r>
              <a:t>🌍 Déploiement multi-sites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VPN site-to-site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Interconnexion de plusieurs bureaux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Optimisation WAN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0070C0"/>
                </a:solidFill>
              </a:defRPr>
            </a:pPr>
            <a:r>
              <a:t>✅ Objectifs atteints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Mise en place réussie d'un VPN sécurisé sur deux plateformes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Compréhension approfondie des protocoles VPN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Maîtrise des outils de configuration et d'analyse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Sécurisation efficace des communications distantes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070C0"/>
                </a:solidFill>
              </a:defRPr>
            </a:pPr>
            <a:r>
              <a:t>💡 Compétences acquises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Administration Windows Server et Linux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Configuration réseau avancée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Cryptographie et sécurité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Analyse de trafic réseau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Résolution de problèmes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0070C0"/>
                </a:solidFill>
              </a:defRPr>
            </a:pPr>
            <a:r>
              <a:t>🌟 Impact pour l'entreprise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Télétravail sécurisé pour les employés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Protection des données sensibles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• Flexibilité et productivité accrues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❓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Merci de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